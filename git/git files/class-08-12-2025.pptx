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6" r:id="rId9"/>
    <p:sldId id="267" r:id="rId10"/>
    <p:sldId id="272" r:id="rId11"/>
    <p:sldId id="264" r:id="rId12"/>
    <p:sldId id="271" r:id="rId13"/>
    <p:sldId id="265" r:id="rId14"/>
    <p:sldId id="262" r:id="rId15"/>
    <p:sldId id="263" r:id="rId16"/>
    <p:sldId id="270" r:id="rId17"/>
    <p:sldId id="269" r:id="rId18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55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D72EF-618C-4E11-AFFB-033522AF4438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AED0E-DE96-4D18-A535-4A7753C0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 is the name given to set of versions of files/directories.</a:t>
            </a:r>
          </a:p>
          <a:p>
            <a:pPr>
              <a:buNone/>
            </a:pPr>
            <a:r>
              <a:rPr lang="en-US" dirty="0"/>
              <a:t>	It indicates milestone of the project, we can easily remember tags in future. </a:t>
            </a:r>
          </a:p>
          <a:p>
            <a:pPr>
              <a:buNone/>
            </a:pPr>
            <a:r>
              <a:rPr lang="en-US" dirty="0"/>
              <a:t>	If I want good code in the future, we tag it by giving a proper name.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to create a tag </a:t>
            </a:r>
          </a:p>
          <a:p>
            <a:pPr>
              <a:buNone/>
            </a:pPr>
            <a:r>
              <a:rPr lang="en-US" dirty="0"/>
              <a:t>   Git tag tag-name</a:t>
            </a:r>
          </a:p>
          <a:p>
            <a:r>
              <a:rPr lang="en-US" dirty="0">
                <a:solidFill>
                  <a:srgbClr val="FF0000"/>
                </a:solidFill>
              </a:rPr>
              <a:t>  How to see the list of tags:</a:t>
            </a:r>
          </a:p>
          <a:p>
            <a:pPr marL="342900" lvl="1" indent="-342900">
              <a:buNone/>
            </a:pPr>
            <a:r>
              <a:rPr lang="en-US" dirty="0"/>
              <a:t>	Git Tag</a:t>
            </a:r>
          </a:p>
          <a:p>
            <a:r>
              <a:rPr lang="en-US" dirty="0">
                <a:solidFill>
                  <a:srgbClr val="FF0000"/>
                </a:solidFill>
              </a:rPr>
              <a:t>How to move from one tag to another:</a:t>
            </a:r>
          </a:p>
          <a:p>
            <a:pPr lvl="1">
              <a:buNone/>
            </a:pPr>
            <a:r>
              <a:rPr lang="en-US" dirty="0"/>
              <a:t>Git checkout tag-name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delete branch/tag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delete the Branch/Tag</a:t>
            </a:r>
          </a:p>
          <a:p>
            <a:r>
              <a:rPr lang="en-US" dirty="0"/>
              <a:t>git branch –d </a:t>
            </a:r>
            <a:r>
              <a:rPr lang="en-US" dirty="0" err="1"/>
              <a:t>Branch_name</a:t>
            </a:r>
            <a:endParaRPr lang="en-US" dirty="0"/>
          </a:p>
          <a:p>
            <a:r>
              <a:rPr lang="en-US" dirty="0"/>
              <a:t>git tag –d Tag-name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9C68-6F64-88DA-CFAD-09BBE745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 the  feature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2BE2C0-687A-1A41-BA61-528F3A821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702" y="1978799"/>
            <a:ext cx="7538595" cy="3792736"/>
          </a:xfrm>
        </p:spPr>
      </p:pic>
    </p:spTree>
    <p:extLst>
      <p:ext uri="{BB962C8B-B14F-4D97-AF65-F5344CB8AC3E}">
        <p14:creationId xmlns:p14="http://schemas.microsoft.com/office/powerpoint/2010/main" val="44323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Is used to integrate two/more branches</a:t>
            </a:r>
            <a:endParaRPr lang="en-US" sz="1800" dirty="0"/>
          </a:p>
          <a:p>
            <a:r>
              <a:rPr lang="en-US" dirty="0"/>
              <a:t>git merge branch-Name</a:t>
            </a:r>
          </a:p>
          <a:p>
            <a:endParaRPr lang="en-US" dirty="0"/>
          </a:p>
          <a:p>
            <a:r>
              <a:rPr lang="en-US" dirty="0"/>
              <a:t>Git branch</a:t>
            </a:r>
          </a:p>
          <a:p>
            <a:r>
              <a:rPr lang="en-US" dirty="0"/>
              <a:t>* master</a:t>
            </a:r>
          </a:p>
          <a:p>
            <a:r>
              <a:rPr lang="en-US" dirty="0"/>
              <a:t>Br22 </a:t>
            </a:r>
            <a:r>
              <a:rPr lang="en-US" dirty="0">
                <a:sym typeface="Wingdings" panose="05000000000000000000" pitchFamily="2" charset="2"/>
              </a:rPr>
              <a:t>br56 </a:t>
            </a:r>
            <a:endParaRPr lang="en-US" dirty="0"/>
          </a:p>
          <a:p>
            <a:r>
              <a:rPr lang="en-US" dirty="0"/>
              <a:t>Git checkout br56</a:t>
            </a:r>
          </a:p>
          <a:p>
            <a:r>
              <a:rPr lang="en-US" dirty="0"/>
              <a:t>Git merge Br22</a:t>
            </a:r>
          </a:p>
          <a:p>
            <a:r>
              <a:rPr lang="en-US" dirty="0"/>
              <a:t>Git branch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Merging Conflicts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763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Merging conflicts will occur when the same piece of code is changed on 2 different branches.</a:t>
            </a:r>
          </a:p>
          <a:p>
            <a:r>
              <a:rPr lang="en-US" dirty="0"/>
              <a:t> when we try to merge those 2 branches then merging conflict will occur. To resolve this issue, I don’t know whose change should I take to merge.</a:t>
            </a:r>
          </a:p>
          <a:p>
            <a:r>
              <a:rPr lang="en-US" dirty="0"/>
              <a:t>So I contact developer who modified the code on </a:t>
            </a:r>
            <a:r>
              <a:rPr lang="en-US" dirty="0" err="1"/>
              <a:t>Branch1</a:t>
            </a:r>
            <a:r>
              <a:rPr lang="en-US" dirty="0"/>
              <a:t> &amp; </a:t>
            </a:r>
            <a:r>
              <a:rPr lang="en-US" dirty="0" err="1"/>
              <a:t>Branch2</a:t>
            </a:r>
            <a:r>
              <a:rPr lang="en-US" dirty="0"/>
              <a:t>.</a:t>
            </a:r>
          </a:p>
          <a:p>
            <a:r>
              <a:rPr lang="en-US" dirty="0"/>
              <a:t>Then they will decide and tell me whose changes should I take into merge.</a:t>
            </a:r>
          </a:p>
          <a:p>
            <a:r>
              <a:rPr lang="en-US" dirty="0"/>
              <a:t>Then I take that change and I Commit it.</a:t>
            </a:r>
          </a:p>
          <a:p>
            <a:r>
              <a:rPr lang="en-US" dirty="0"/>
              <a:t>I will get to know who modified the code on Branch 1 &amp; </a:t>
            </a:r>
            <a:r>
              <a:rPr lang="en-US" dirty="0" err="1"/>
              <a:t>Branch2</a:t>
            </a:r>
            <a:r>
              <a:rPr lang="en-US" dirty="0"/>
              <a:t> using </a:t>
            </a:r>
            <a:r>
              <a:rPr lang="en-US" b="1" dirty="0" err="1"/>
              <a:t>git</a:t>
            </a:r>
            <a:r>
              <a:rPr lang="en-US" b="1" dirty="0"/>
              <a:t> log </a:t>
            </a:r>
            <a:r>
              <a:rPr lang="en-US" dirty="0"/>
              <a:t>command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1" y="228600"/>
            <a:ext cx="5582544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Bringing the changes form remote repo and merging to local repo automatically</a:t>
            </a:r>
          </a:p>
          <a:p>
            <a:r>
              <a:rPr lang="en-US" dirty="0" err="1"/>
              <a:t>Git</a:t>
            </a:r>
            <a:r>
              <a:rPr lang="en-US" dirty="0"/>
              <a:t> pull </a:t>
            </a:r>
            <a:r>
              <a:rPr lang="en-US" dirty="0" err="1"/>
              <a:t>GitHubUrl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Fetch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Bringing the changes from remote repo and stores it on separate branch, you can review the changes and merge normally if it is required.</a:t>
            </a:r>
          </a:p>
          <a:p>
            <a:r>
              <a:rPr lang="en-US" dirty="0" err="1"/>
              <a:t>Git</a:t>
            </a:r>
            <a:r>
              <a:rPr lang="en-US" dirty="0"/>
              <a:t> fetch </a:t>
            </a:r>
            <a:r>
              <a:rPr lang="en-US" dirty="0" err="1"/>
              <a:t>GitHubUrl</a:t>
            </a:r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Merge </a:t>
            </a:r>
            <a:r>
              <a:rPr lang="en-US" dirty="0" err="1"/>
              <a:t>BranchName</a:t>
            </a:r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Pull = </a:t>
            </a:r>
            <a:r>
              <a:rPr lang="en-US" dirty="0" err="1"/>
              <a:t>Git</a:t>
            </a:r>
            <a:r>
              <a:rPr lang="en-US" dirty="0"/>
              <a:t> Fetch + </a:t>
            </a:r>
            <a:r>
              <a:rPr lang="en-US" dirty="0" err="1"/>
              <a:t>Git</a:t>
            </a:r>
            <a:r>
              <a:rPr lang="en-US" dirty="0"/>
              <a:t> 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E9F3E5-5389-5C4B-B754-DDB6795A2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9144001" cy="6971071"/>
          </a:xfrm>
        </p:spPr>
      </p:pic>
    </p:spTree>
    <p:extLst>
      <p:ext uri="{BB962C8B-B14F-4D97-AF65-F5344CB8AC3E}">
        <p14:creationId xmlns:p14="http://schemas.microsoft.com/office/powerpoint/2010/main" val="288671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Moving the changes from local Repository (workspace) to Central Repository (Remote repo)</a:t>
            </a:r>
          </a:p>
          <a:p>
            <a:r>
              <a:rPr lang="en-US" dirty="0" err="1"/>
              <a:t>Git</a:t>
            </a:r>
            <a:r>
              <a:rPr lang="en-US" dirty="0"/>
              <a:t> push </a:t>
            </a:r>
            <a:r>
              <a:rPr lang="en-US" dirty="0" err="1"/>
              <a:t>GitHubUrl</a:t>
            </a:r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remote add origin </a:t>
            </a:r>
            <a:r>
              <a:rPr lang="en-US" dirty="0" err="1"/>
              <a:t>GitHubUrl</a:t>
            </a:r>
            <a:endParaRPr lang="en-US" dirty="0"/>
          </a:p>
          <a:p>
            <a:r>
              <a:rPr lang="en-US" dirty="0" err="1"/>
              <a:t>Git</a:t>
            </a:r>
            <a:r>
              <a:rPr lang="en-US" dirty="0"/>
              <a:t> Push –u Origin master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01B28D-01A0-06DD-DC7E-9AE0084B5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014531"/>
              </p:ext>
            </p:extLst>
          </p:nvPr>
        </p:nvGraphicFramePr>
        <p:xfrm>
          <a:off x="1" y="0"/>
          <a:ext cx="9144000" cy="68580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9048460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1335167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70545234"/>
                    </a:ext>
                  </a:extLst>
                </a:gridCol>
              </a:tblGrid>
              <a:tr h="385083">
                <a:tc>
                  <a:txBody>
                    <a:bodyPr/>
                    <a:lstStyle/>
                    <a:p>
                      <a:r>
                        <a:rPr lang="en-IN" sz="1400"/>
                        <a:t>Feature / Behavior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git pull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git fetch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941792"/>
                  </a:ext>
                </a:extLst>
              </a:tr>
              <a:tr h="967769">
                <a:tc>
                  <a:txBody>
                    <a:bodyPr/>
                    <a:lstStyle/>
                    <a:p>
                      <a:r>
                        <a:rPr lang="en-IN" sz="1400" b="1" dirty="0"/>
                        <a:t>What it does</a:t>
                      </a:r>
                      <a:endParaRPr lang="en-IN" sz="1400" dirty="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Downloads changes </a:t>
                      </a:r>
                      <a:r>
                        <a:rPr lang="en-US" sz="1400" b="1"/>
                        <a:t>AND merges</a:t>
                      </a:r>
                      <a:r>
                        <a:rPr lang="en-US" sz="1400"/>
                        <a:t> them into your current branch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Only downloads changes, </a:t>
                      </a:r>
                      <a:r>
                        <a:rPr lang="en-US" sz="1400" b="1"/>
                        <a:t>does NOT merge</a:t>
                      </a:r>
                      <a:r>
                        <a:rPr lang="en-US" sz="1400"/>
                        <a:t> automatically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199994"/>
                  </a:ext>
                </a:extLst>
              </a:tr>
              <a:tr h="385083">
                <a:tc>
                  <a:txBody>
                    <a:bodyPr/>
                    <a:lstStyle/>
                    <a:p>
                      <a:r>
                        <a:rPr lang="en-IN" sz="1400" b="1"/>
                        <a:t>Local working directory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 Updated automatically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❌ Not updated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868028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r>
                        <a:rPr lang="en-IN" sz="1400" b="1"/>
                        <a:t>Safety level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⚠️ Less safe (auto-merge may cause conflicts)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⭐ Very safe (no changes to working files)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891870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r>
                        <a:rPr lang="en-IN" sz="1400" b="1" dirty="0"/>
                        <a:t>Use case</a:t>
                      </a:r>
                      <a:endParaRPr lang="en-IN" sz="1400" dirty="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When you want to update your branch immediately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When you want to review changes before merging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508501"/>
                  </a:ext>
                </a:extLst>
              </a:tr>
              <a:tr h="385083">
                <a:tc>
                  <a:txBody>
                    <a:bodyPr/>
                    <a:lstStyle/>
                    <a:p>
                      <a:r>
                        <a:rPr lang="en-IN" sz="1400" b="1"/>
                        <a:t>Command includes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git fetch + git merge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Only fetch (no merge)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349076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r>
                        <a:rPr lang="en-US" sz="1400" b="1" dirty="0"/>
                        <a:t>Risk of breaking your code?</a:t>
                      </a:r>
                      <a:endParaRPr lang="en-US" sz="1400" dirty="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⚠️ Yes, because merging happens automatically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 risk, fetch only downloads metadata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620434"/>
                  </a:ext>
                </a:extLst>
              </a:tr>
              <a:tr h="967769">
                <a:tc>
                  <a:txBody>
                    <a:bodyPr/>
                    <a:lstStyle/>
                    <a:p>
                      <a:r>
                        <a:rPr lang="en-IN" sz="1400" b="1"/>
                        <a:t>Common usage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Updating local branch with remote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Checking what is new on remote without touching your local code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387771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r>
                        <a:rPr lang="en-IN" sz="1400" b="1"/>
                        <a:t>Typical workflow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Pull → auto-merge happens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Fetch → manually merge or rebase later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736615"/>
                  </a:ext>
                </a:extLst>
              </a:tr>
              <a:tr h="385083">
                <a:tc>
                  <a:txBody>
                    <a:bodyPr/>
                    <a:lstStyle/>
                    <a:p>
                      <a:r>
                        <a:rPr lang="en-IN" sz="1400" b="1"/>
                        <a:t>Commands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git pull origin main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git fetch origin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060385"/>
                  </a:ext>
                </a:extLst>
              </a:tr>
              <a:tr h="676426">
                <a:tc>
                  <a:txBody>
                    <a:bodyPr/>
                    <a:lstStyle/>
                    <a:p>
                      <a:r>
                        <a:rPr lang="en-IN" sz="1400" b="1"/>
                        <a:t>Ideal for</a:t>
                      </a:r>
                      <a:endParaRPr lang="en-IN" sz="1400"/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Quick updates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Safe preview before integrating changes</a:t>
                      </a:r>
                    </a:p>
                  </a:txBody>
                  <a:tcPr marL="63746" marR="63746" marT="31873" marB="318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12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249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irect Access Storage 3"/>
          <p:cNvSpPr/>
          <p:nvPr/>
        </p:nvSpPr>
        <p:spPr>
          <a:xfrm>
            <a:off x="2971800" y="1600200"/>
            <a:ext cx="1981200" cy="914400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Central Repo (</a:t>
            </a:r>
            <a:r>
              <a:rPr lang="en-US" dirty="0" err="1"/>
              <a:t>GitHub</a:t>
            </a:r>
            <a:r>
              <a:rPr lang="en-US" dirty="0"/>
              <a:t>)</a:t>
            </a:r>
          </a:p>
        </p:txBody>
      </p:sp>
      <p:sp>
        <p:nvSpPr>
          <p:cNvPr id="5" name="Flowchart: Predefined Process 4"/>
          <p:cNvSpPr/>
          <p:nvPr/>
        </p:nvSpPr>
        <p:spPr>
          <a:xfrm>
            <a:off x="3276600" y="5029200"/>
            <a:ext cx="1752600" cy="1066800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Machine/</a:t>
            </a:r>
          </a:p>
          <a:p>
            <a:pPr algn="ctr"/>
            <a:r>
              <a:rPr lang="en-US" dirty="0"/>
              <a:t>System/</a:t>
            </a:r>
          </a:p>
          <a:p>
            <a:pPr algn="ctr"/>
            <a:r>
              <a:rPr lang="en-US" dirty="0"/>
              <a:t>Local Repo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3124995" y="2514600"/>
            <a:ext cx="112710" cy="2438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4600" y="35814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CLone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rot="16200000" flipV="1">
            <a:off x="2590800" y="3733800"/>
            <a:ext cx="23622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29000" y="3581400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2.Git</a:t>
            </a:r>
            <a:endParaRPr lang="en-US" dirty="0"/>
          </a:p>
          <a:p>
            <a:r>
              <a:rPr lang="en-US" dirty="0"/>
              <a:t>Push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rot="16200000" flipH="1">
            <a:off x="3086100" y="3695700"/>
            <a:ext cx="2514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91000" y="3657600"/>
            <a:ext cx="99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3.Git</a:t>
            </a:r>
            <a:endParaRPr lang="en-US" dirty="0"/>
          </a:p>
          <a:p>
            <a:r>
              <a:rPr lang="en-US" dirty="0"/>
              <a:t>Pull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 flipV="1">
            <a:off x="4762500" y="2362200"/>
            <a:ext cx="152400" cy="2590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76800" y="3733800"/>
            <a:ext cx="68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4.Git</a:t>
            </a:r>
            <a:r>
              <a:rPr lang="en-US" dirty="0"/>
              <a:t> </a:t>
            </a:r>
          </a:p>
          <a:p>
            <a:r>
              <a:rPr lang="en-US" dirty="0"/>
              <a:t>Push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CC6ECA-D12D-A2B3-5430-5BE0A5966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0" y="0"/>
            <a:ext cx="9084820" cy="58803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BDEDE-BC88-E9D4-F18C-3D3F4E87E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576517"/>
              </p:ext>
            </p:extLst>
          </p:nvPr>
        </p:nvGraphicFramePr>
        <p:xfrm>
          <a:off x="83572" y="0"/>
          <a:ext cx="8976856" cy="6912077"/>
        </p:xfrm>
        <a:graphic>
          <a:graphicData uri="http://schemas.openxmlformats.org/drawingml/2006/table">
            <a:tbl>
              <a:tblPr/>
              <a:tblGrid>
                <a:gridCol w="2244214">
                  <a:extLst>
                    <a:ext uri="{9D8B030D-6E8A-4147-A177-3AD203B41FA5}">
                      <a16:colId xmlns:a16="http://schemas.microsoft.com/office/drawing/2014/main" val="1556027700"/>
                    </a:ext>
                  </a:extLst>
                </a:gridCol>
                <a:gridCol w="2244214">
                  <a:extLst>
                    <a:ext uri="{9D8B030D-6E8A-4147-A177-3AD203B41FA5}">
                      <a16:colId xmlns:a16="http://schemas.microsoft.com/office/drawing/2014/main" val="2940637936"/>
                    </a:ext>
                  </a:extLst>
                </a:gridCol>
                <a:gridCol w="2244214">
                  <a:extLst>
                    <a:ext uri="{9D8B030D-6E8A-4147-A177-3AD203B41FA5}">
                      <a16:colId xmlns:a16="http://schemas.microsoft.com/office/drawing/2014/main" val="1695948576"/>
                    </a:ext>
                  </a:extLst>
                </a:gridCol>
                <a:gridCol w="2244214">
                  <a:extLst>
                    <a:ext uri="{9D8B030D-6E8A-4147-A177-3AD203B41FA5}">
                      <a16:colId xmlns:a16="http://schemas.microsoft.com/office/drawing/2014/main" val="1183316982"/>
                    </a:ext>
                  </a:extLst>
                </a:gridCol>
              </a:tblGrid>
              <a:tr h="321491">
                <a:tc>
                  <a:txBody>
                    <a:bodyPr/>
                    <a:lstStyle/>
                    <a:p>
                      <a:r>
                        <a:rPr lang="en-IN" sz="1600" dirty="0"/>
                        <a:t>Feature / </a:t>
                      </a:r>
                      <a:r>
                        <a:rPr lang="en-IN" sz="1600" dirty="0" err="1"/>
                        <a:t>Behavior</a:t>
                      </a:r>
                      <a:endParaRPr lang="en-IN" sz="1600" dirty="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Git Merge</a:t>
                      </a:r>
                      <a:endParaRPr lang="en-IN" sz="1600" dirty="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Git Rebase</a:t>
                      </a:r>
                      <a:endParaRPr lang="en-IN" sz="1600" dirty="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Squash Commit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21331"/>
                  </a:ext>
                </a:extLst>
              </a:tr>
              <a:tr h="803731">
                <a:tc>
                  <a:txBody>
                    <a:bodyPr/>
                    <a:lstStyle/>
                    <a:p>
                      <a:r>
                        <a:rPr lang="en-IN" sz="1600" b="1" dirty="0"/>
                        <a:t>What it does</a:t>
                      </a:r>
                      <a:endParaRPr lang="en-IN" sz="1600" dirty="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Combines two branches with a merge commit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Moves feature commits on top of another branch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Combines all commits into ONE commit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934566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r>
                        <a:rPr lang="en-IN" sz="1600" b="1" dirty="0"/>
                        <a:t>History style</a:t>
                      </a:r>
                      <a:endParaRPr lang="en-IN" sz="1600" dirty="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Non-linear (branching)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Linear (straight line)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Linear (single commit)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579727"/>
                  </a:ext>
                </a:extLst>
              </a:tr>
              <a:tr h="321491">
                <a:tc>
                  <a:txBody>
                    <a:bodyPr/>
                    <a:lstStyle/>
                    <a:p>
                      <a:r>
                        <a:rPr lang="en-IN" sz="1600" b="1"/>
                        <a:t>Rewrites history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❌ No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✔ Yes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✔ Yes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959619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r>
                        <a:rPr lang="en-IN" sz="1600" b="1"/>
                        <a:t>Creates new commit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✔ Yes (merge commit)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✔ Yes (new rewritten commits)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✔ Yes (one squashed commit)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55107"/>
                  </a:ext>
                </a:extLst>
              </a:tr>
              <a:tr h="803731">
                <a:tc>
                  <a:txBody>
                    <a:bodyPr/>
                    <a:lstStyle/>
                    <a:p>
                      <a:r>
                        <a:rPr lang="en-IN" sz="1600" b="1"/>
                        <a:t>Original commits preserved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✔ Yes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No (they become new commits)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❌ No (they are replaced by one commit)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30796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r>
                        <a:rPr lang="en-IN" sz="1600" b="1"/>
                        <a:t>Use case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Team merging, safe operations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Clean history before PR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Clean, single commit for PR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438"/>
                  </a:ext>
                </a:extLst>
              </a:tr>
              <a:tr h="803731">
                <a:tc>
                  <a:txBody>
                    <a:bodyPr/>
                    <a:lstStyle/>
                    <a:p>
                      <a:r>
                        <a:rPr lang="en-IN" sz="1600" b="1"/>
                        <a:t>Risk level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⭐ Safe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⚠️ Risky (don’t use on shared branches)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⭐ Safe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225336"/>
                  </a:ext>
                </a:extLst>
              </a:tr>
              <a:tr h="803731">
                <a:tc>
                  <a:txBody>
                    <a:bodyPr/>
                    <a:lstStyle/>
                    <a:p>
                      <a:r>
                        <a:rPr lang="en-IN" sz="1600" b="1"/>
                        <a:t>When to use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When preserving full history is important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When you want a clean, linear history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When feature branch has many small/WIP commits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55575"/>
                  </a:ext>
                </a:extLst>
              </a:tr>
              <a:tr h="803731">
                <a:tc>
                  <a:txBody>
                    <a:bodyPr/>
                    <a:lstStyle/>
                    <a:p>
                      <a:r>
                        <a:rPr lang="en-IN" sz="1600" b="1"/>
                        <a:t>Commit Graph Example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Includes merge bubble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Straightened history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One commit replaces all feature commits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8670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r>
                        <a:rPr lang="en-IN" sz="1600" b="1"/>
                        <a:t>Command</a:t>
                      </a:r>
                      <a:endParaRPr lang="en-IN" sz="1600"/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git merge feature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git rebase main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git merge --squash feature</a:t>
                      </a:r>
                    </a:p>
                  </a:txBody>
                  <a:tcPr marL="52627" marR="52627" marT="26314" marB="26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9509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660B8-4C9A-7F04-26D9-F63665073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D618D-3E15-46C3-46E6-13D69417C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45" y="1417638"/>
            <a:ext cx="9268832" cy="489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7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B59266-9BEE-D172-894A-D5E129CCE3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675534"/>
              </p:ext>
            </p:extLst>
          </p:nvPr>
        </p:nvGraphicFramePr>
        <p:xfrm>
          <a:off x="0" y="78658"/>
          <a:ext cx="9144000" cy="677934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873193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02129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8065130"/>
                    </a:ext>
                  </a:extLst>
                </a:gridCol>
              </a:tblGrid>
              <a:tr h="318647">
                <a:tc>
                  <a:txBody>
                    <a:bodyPr/>
                    <a:lstStyle/>
                    <a:p>
                      <a:r>
                        <a:rPr lang="en-IN" sz="1400"/>
                        <a:t>Feature / Behavior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Git Reset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Git Revert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691515"/>
                  </a:ext>
                </a:extLst>
              </a:tr>
              <a:tr h="798089">
                <a:tc>
                  <a:txBody>
                    <a:bodyPr/>
                    <a:lstStyle/>
                    <a:p>
                      <a:r>
                        <a:rPr lang="en-IN" sz="1400" b="1" dirty="0"/>
                        <a:t>What it does</a:t>
                      </a:r>
                      <a:endParaRPr lang="en-IN" sz="1400" dirty="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Moves the branch pointer back to a previous commit (changes history)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Creates a NEW commit that undoes the changes of an old commit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417661"/>
                  </a:ext>
                </a:extLst>
              </a:tr>
              <a:tr h="318647">
                <a:tc>
                  <a:txBody>
                    <a:bodyPr/>
                    <a:lstStyle/>
                    <a:p>
                      <a:r>
                        <a:rPr lang="en-IN" sz="1400" b="1"/>
                        <a:t>History Impact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❌ Rewrites history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 Preserves history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889551"/>
                  </a:ext>
                </a:extLst>
              </a:tr>
              <a:tr h="558368">
                <a:tc>
                  <a:txBody>
                    <a:bodyPr/>
                    <a:lstStyle/>
                    <a:p>
                      <a:r>
                        <a:rPr lang="en-IN" sz="1400" b="1" dirty="0"/>
                        <a:t>Safe for shared branches?</a:t>
                      </a:r>
                      <a:endParaRPr lang="en-IN" sz="1400" dirty="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No, dangerous on shared branches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✔ Yes, safe for shared branches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236313"/>
                  </a:ext>
                </a:extLst>
              </a:tr>
              <a:tr h="558368">
                <a:tc>
                  <a:txBody>
                    <a:bodyPr/>
                    <a:lstStyle/>
                    <a:p>
                      <a:r>
                        <a:rPr lang="en-IN" sz="1400" b="1"/>
                        <a:t>Affects commit history?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 Yes (removes commits)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❌ No (adds a new inverse commit)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17569"/>
                  </a:ext>
                </a:extLst>
              </a:tr>
              <a:tr h="558368">
                <a:tc>
                  <a:txBody>
                    <a:bodyPr/>
                    <a:lstStyle/>
                    <a:p>
                      <a:r>
                        <a:rPr lang="en-IN" sz="1400" b="1"/>
                        <a:t>Working directory impact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Depends on mode (--soft, --mixed, --hard)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Does not modify uncommitted work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220353"/>
                  </a:ext>
                </a:extLst>
              </a:tr>
              <a:tr h="798089">
                <a:tc>
                  <a:txBody>
                    <a:bodyPr/>
                    <a:lstStyle/>
                    <a:p>
                      <a:r>
                        <a:rPr lang="en-IN" sz="1400" b="1"/>
                        <a:t>Undoing changes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Removes commits entirely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Reverses the effect of a commit with a new commit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285000"/>
                  </a:ext>
                </a:extLst>
              </a:tr>
              <a:tr h="558368">
                <a:tc>
                  <a:txBody>
                    <a:bodyPr/>
                    <a:lstStyle/>
                    <a:p>
                      <a:r>
                        <a:rPr lang="en-IN" sz="1400" b="1"/>
                        <a:t>Use case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Fix local mistakes before pushing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Undo a mistake that is already pushed to remote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29146"/>
                  </a:ext>
                </a:extLst>
              </a:tr>
              <a:tr h="318647">
                <a:tc>
                  <a:txBody>
                    <a:bodyPr/>
                    <a:lstStyle/>
                    <a:p>
                      <a:r>
                        <a:rPr lang="en-IN" sz="1400" b="1"/>
                        <a:t>Command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git reset --hard &lt;commit&gt;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git revert &lt;commit&gt;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0678"/>
                  </a:ext>
                </a:extLst>
              </a:tr>
              <a:tr h="318647">
                <a:tc>
                  <a:txBody>
                    <a:bodyPr/>
                    <a:lstStyle/>
                    <a:p>
                      <a:r>
                        <a:rPr lang="en-IN" sz="1400" b="1"/>
                        <a:t>Is it destructive?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⚠️ Yes (especially --hard)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❌ No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955398"/>
                  </a:ext>
                </a:extLst>
              </a:tr>
              <a:tr h="558368">
                <a:tc>
                  <a:txBody>
                    <a:bodyPr/>
                    <a:lstStyle/>
                    <a:p>
                      <a:r>
                        <a:rPr lang="en-IN" sz="1400" b="1"/>
                        <a:t>Keeps commit history clean?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✔ Yes, but rewrites it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✔ Yes, but adds a revert commit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933114"/>
                  </a:ext>
                </a:extLst>
              </a:tr>
              <a:tr h="318647">
                <a:tc>
                  <a:txBody>
                    <a:bodyPr/>
                    <a:lstStyle/>
                    <a:p>
                      <a:r>
                        <a:rPr lang="en-IN" sz="1400" b="1"/>
                        <a:t>Example outcome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Branch moves backwards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New commit: “Revert ”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740656"/>
                  </a:ext>
                </a:extLst>
              </a:tr>
              <a:tr h="798089">
                <a:tc>
                  <a:txBody>
                    <a:bodyPr/>
                    <a:lstStyle/>
                    <a:p>
                      <a:r>
                        <a:rPr lang="en-IN" sz="1400" b="1"/>
                        <a:t>Best used when</a:t>
                      </a:r>
                      <a:endParaRPr lang="en-IN" sz="1400"/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You haven’t pushed your changes yet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You have already pushed changes and want to safely undo them</a:t>
                      </a:r>
                    </a:p>
                  </a:txBody>
                  <a:tcPr marL="55195" marR="55195" marT="27597" marB="275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6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14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918</Words>
  <Application>Microsoft Office PowerPoint</Application>
  <PresentationFormat>On-screen Show (4:3)</PresentationFormat>
  <Paragraphs>173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Git Tag</vt:lpstr>
      <vt:lpstr>Tag</vt:lpstr>
      <vt:lpstr>To delete branch/tag</vt:lpstr>
      <vt:lpstr>For  the  feature</vt:lpstr>
      <vt:lpstr>Git Merge</vt:lpstr>
      <vt:lpstr>Merging Conflicts </vt:lpstr>
      <vt:lpstr>PowerPoint Presentation</vt:lpstr>
      <vt:lpstr>Git Pull</vt:lpstr>
      <vt:lpstr>Git Fetch</vt:lpstr>
      <vt:lpstr>PowerPoint Presentation</vt:lpstr>
      <vt:lpstr>Git Push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pradeep hm</dc:creator>
  <cp:lastModifiedBy>pradeep hm</cp:lastModifiedBy>
  <cp:revision>3</cp:revision>
  <dcterms:modified xsi:type="dcterms:W3CDTF">2025-12-08T19:43:56Z</dcterms:modified>
</cp:coreProperties>
</file>